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80" r:id="rId2"/>
    <p:sldId id="284" r:id="rId3"/>
    <p:sldId id="261" r:id="rId4"/>
    <p:sldId id="281" r:id="rId5"/>
    <p:sldId id="282" r:id="rId6"/>
    <p:sldId id="285" r:id="rId7"/>
    <p:sldId id="286" r:id="rId8"/>
    <p:sldId id="287" r:id="rId9"/>
    <p:sldId id="288" r:id="rId10"/>
    <p:sldId id="290" r:id="rId11"/>
    <p:sldId id="292" r:id="rId12"/>
    <p:sldId id="293" r:id="rId13"/>
    <p:sldId id="294" r:id="rId14"/>
    <p:sldId id="295" r:id="rId15"/>
    <p:sldId id="27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A6E5F9"/>
    <a:srgbClr val="B1E7F9"/>
    <a:srgbClr val="BAE9F8"/>
    <a:srgbClr val="9FE2F6"/>
    <a:srgbClr val="A1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33862-03F5-45CD-BF99-606B289C31A9}" v="74" dt="2026-04-14T02:09:57.2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 Nguyen" userId="fa2248167c1d5de4" providerId="LiveId" clId="{51133862-03F5-45CD-BF99-606B289C31A9}"/>
    <pc:docChg chg="undo custSel modSld">
      <pc:chgData name="Son Nguyen" userId="fa2248167c1d5de4" providerId="LiveId" clId="{51133862-03F5-45CD-BF99-606B289C31A9}" dt="2026-04-14T02:10:59.356" v="465" actId="1076"/>
      <pc:docMkLst>
        <pc:docMk/>
      </pc:docMkLst>
      <pc:sldChg chg="addSp delSp modSp mod modAnim">
        <pc:chgData name="Son Nguyen" userId="fa2248167c1d5de4" providerId="LiveId" clId="{51133862-03F5-45CD-BF99-606B289C31A9}" dt="2026-04-14T01:22:09.645" v="58" actId="207"/>
        <pc:sldMkLst>
          <pc:docMk/>
          <pc:sldMk cId="3162327387" sldId="280"/>
        </pc:sldMkLst>
        <pc:spChg chg="mod">
          <ac:chgData name="Son Nguyen" userId="fa2248167c1d5de4" providerId="LiveId" clId="{51133862-03F5-45CD-BF99-606B289C31A9}" dt="2026-04-14T01:21:34.537" v="54" actId="3062"/>
          <ac:spMkLst>
            <pc:docMk/>
            <pc:sldMk cId="3162327387" sldId="280"/>
            <ac:spMk id="4" creationId="{D618F3DB-6113-F7A7-6517-8C9948EC88C7}"/>
          </ac:spMkLst>
        </pc:spChg>
        <pc:spChg chg="mod">
          <ac:chgData name="Son Nguyen" userId="fa2248167c1d5de4" providerId="LiveId" clId="{51133862-03F5-45CD-BF99-606B289C31A9}" dt="2026-04-14T01:22:09.645" v="58" actId="207"/>
          <ac:spMkLst>
            <pc:docMk/>
            <pc:sldMk cId="3162327387" sldId="280"/>
            <ac:spMk id="5" creationId="{2898D0BD-3197-EF2F-45AC-437EEAAD26F2}"/>
          </ac:spMkLst>
        </pc:spChg>
        <pc:spChg chg="add del mod ord">
          <ac:chgData name="Son Nguyen" userId="fa2248167c1d5de4" providerId="LiveId" clId="{51133862-03F5-45CD-BF99-606B289C31A9}" dt="2026-04-14T01:20:31.690" v="34" actId="11529"/>
          <ac:spMkLst>
            <pc:docMk/>
            <pc:sldMk cId="3162327387" sldId="280"/>
            <ac:spMk id="7" creationId="{5B4EAF4F-8F6F-3F27-7101-B80645A5857A}"/>
          </ac:spMkLst>
        </pc:spChg>
        <pc:spChg chg="add del">
          <ac:chgData name="Son Nguyen" userId="fa2248167c1d5de4" providerId="LiveId" clId="{51133862-03F5-45CD-BF99-606B289C31A9}" dt="2026-04-14T01:14:37.183" v="3" actId="21"/>
          <ac:spMkLst>
            <pc:docMk/>
            <pc:sldMk cId="3162327387" sldId="280"/>
            <ac:spMk id="19" creationId="{131145E9-E938-4BA2-E5ED-33B41860503E}"/>
          </ac:spMkLst>
        </pc:spChg>
        <pc:picChg chg="add mod ord">
          <ac:chgData name="Son Nguyen" userId="fa2248167c1d5de4" providerId="LiveId" clId="{51133862-03F5-45CD-BF99-606B289C31A9}" dt="2026-04-14T01:16:07.264" v="14" actId="1076"/>
          <ac:picMkLst>
            <pc:docMk/>
            <pc:sldMk cId="3162327387" sldId="280"/>
            <ac:picMk id="6" creationId="{EB90EB96-6237-7525-588F-64E78CBE0178}"/>
          </ac:picMkLst>
        </pc:picChg>
      </pc:sldChg>
      <pc:sldChg chg="modSp mod">
        <pc:chgData name="Son Nguyen" userId="fa2248167c1d5de4" providerId="LiveId" clId="{51133862-03F5-45CD-BF99-606B289C31A9}" dt="2026-04-14T01:38:54.489" v="100" actId="20577"/>
        <pc:sldMkLst>
          <pc:docMk/>
          <pc:sldMk cId="111252700" sldId="288"/>
        </pc:sldMkLst>
        <pc:spChg chg="mod">
          <ac:chgData name="Son Nguyen" userId="fa2248167c1d5de4" providerId="LiveId" clId="{51133862-03F5-45CD-BF99-606B289C31A9}" dt="2026-04-14T01:38:54.489" v="100" actId="20577"/>
          <ac:spMkLst>
            <pc:docMk/>
            <pc:sldMk cId="111252700" sldId="288"/>
            <ac:spMk id="8" creationId="{853FF4FF-B302-6870-87AE-64A0E4864737}"/>
          </ac:spMkLst>
        </pc:spChg>
      </pc:sldChg>
      <pc:sldChg chg="addSp delSp modSp mod">
        <pc:chgData name="Son Nguyen" userId="fa2248167c1d5de4" providerId="LiveId" clId="{51133862-03F5-45CD-BF99-606B289C31A9}" dt="2026-04-14T02:10:59.356" v="465" actId="1076"/>
        <pc:sldMkLst>
          <pc:docMk/>
          <pc:sldMk cId="2724771778" sldId="290"/>
        </pc:sldMkLst>
        <pc:spChg chg="mod">
          <ac:chgData name="Son Nguyen" userId="fa2248167c1d5de4" providerId="LiveId" clId="{51133862-03F5-45CD-BF99-606B289C31A9}" dt="2026-04-14T01:55:41.116" v="346" actId="14100"/>
          <ac:spMkLst>
            <pc:docMk/>
            <pc:sldMk cId="2724771778" sldId="290"/>
            <ac:spMk id="2" creationId="{56EFEC29-CB6F-4708-0015-23D44E78BDEC}"/>
          </ac:spMkLst>
        </pc:spChg>
        <pc:spChg chg="add">
          <ac:chgData name="Son Nguyen" userId="fa2248167c1d5de4" providerId="LiveId" clId="{51133862-03F5-45CD-BF99-606B289C31A9}" dt="2026-04-14T01:54:19.835" v="332"/>
          <ac:spMkLst>
            <pc:docMk/>
            <pc:sldMk cId="2724771778" sldId="290"/>
            <ac:spMk id="4" creationId="{E1D44F74-4574-8083-18EF-6EF641BEB36B}"/>
          </ac:spMkLst>
        </pc:spChg>
        <pc:spChg chg="add mod">
          <ac:chgData name="Son Nguyen" userId="fa2248167c1d5de4" providerId="LiveId" clId="{51133862-03F5-45CD-BF99-606B289C31A9}" dt="2026-04-14T01:54:27.413" v="335"/>
          <ac:spMkLst>
            <pc:docMk/>
            <pc:sldMk cId="2724771778" sldId="290"/>
            <ac:spMk id="5" creationId="{E164EF57-5314-E701-A0A6-BE696027823C}"/>
          </ac:spMkLst>
        </pc:spChg>
        <pc:spChg chg="mod">
          <ac:chgData name="Son Nguyen" userId="fa2248167c1d5de4" providerId="LiveId" clId="{51133862-03F5-45CD-BF99-606B289C31A9}" dt="2026-04-14T01:47:41.124" v="271" actId="20577"/>
          <ac:spMkLst>
            <pc:docMk/>
            <pc:sldMk cId="2724771778" sldId="290"/>
            <ac:spMk id="6" creationId="{03E62D5D-BD29-607B-C5F4-4A562ED55725}"/>
          </ac:spMkLst>
        </pc:spChg>
        <pc:spChg chg="add">
          <ac:chgData name="Son Nguyen" userId="fa2248167c1d5de4" providerId="LiveId" clId="{51133862-03F5-45CD-BF99-606B289C31A9}" dt="2026-04-14T01:54:33.139" v="338"/>
          <ac:spMkLst>
            <pc:docMk/>
            <pc:sldMk cId="2724771778" sldId="290"/>
            <ac:spMk id="9" creationId="{E7573D5A-F8B3-7234-0915-54C7D1323C94}"/>
          </ac:spMkLst>
        </pc:spChg>
        <pc:spChg chg="add">
          <ac:chgData name="Son Nguyen" userId="fa2248167c1d5de4" providerId="LiveId" clId="{51133862-03F5-45CD-BF99-606B289C31A9}" dt="2026-04-14T01:54:50.600" v="340"/>
          <ac:spMkLst>
            <pc:docMk/>
            <pc:sldMk cId="2724771778" sldId="290"/>
            <ac:spMk id="12" creationId="{242290A5-C837-C7E0-3F38-85DA579449F8}"/>
          </ac:spMkLst>
        </pc:spChg>
        <pc:spChg chg="add">
          <ac:chgData name="Son Nguyen" userId="fa2248167c1d5de4" providerId="LiveId" clId="{51133862-03F5-45CD-BF99-606B289C31A9}" dt="2026-04-14T01:54:59.500" v="345"/>
          <ac:spMkLst>
            <pc:docMk/>
            <pc:sldMk cId="2724771778" sldId="290"/>
            <ac:spMk id="15" creationId="{80DE030C-AC69-C4DC-D61F-E9FCC0AA202F}"/>
          </ac:spMkLst>
        </pc:spChg>
        <pc:spChg chg="add">
          <ac:chgData name="Son Nguyen" userId="fa2248167c1d5de4" providerId="LiveId" clId="{51133862-03F5-45CD-BF99-606B289C31A9}" dt="2026-04-14T02:08:11.711" v="431"/>
          <ac:spMkLst>
            <pc:docMk/>
            <pc:sldMk cId="2724771778" sldId="290"/>
            <ac:spMk id="17" creationId="{4C33A4D0-5CB4-FBAD-CE06-233F6BD23CFD}"/>
          </ac:spMkLst>
        </pc:spChg>
        <pc:spChg chg="add">
          <ac:chgData name="Son Nguyen" userId="fa2248167c1d5de4" providerId="LiveId" clId="{51133862-03F5-45CD-BF99-606B289C31A9}" dt="2026-04-14T02:08:22.153" v="436"/>
          <ac:spMkLst>
            <pc:docMk/>
            <pc:sldMk cId="2724771778" sldId="290"/>
            <ac:spMk id="18" creationId="{BB40AC27-6716-92E4-DFA3-DD539FCE4265}"/>
          </ac:spMkLst>
        </pc:spChg>
        <pc:spChg chg="add del mod">
          <ac:chgData name="Son Nguyen" userId="fa2248167c1d5de4" providerId="LiveId" clId="{51133862-03F5-45CD-BF99-606B289C31A9}" dt="2026-04-14T02:09:34.475" v="445" actId="478"/>
          <ac:spMkLst>
            <pc:docMk/>
            <pc:sldMk cId="2724771778" sldId="290"/>
            <ac:spMk id="19" creationId="{0F02BF58-204A-72B1-BF35-5D57F8B6362B}"/>
          </ac:spMkLst>
        </pc:spChg>
        <pc:spChg chg="mod">
          <ac:chgData name="Son Nguyen" userId="fa2248167c1d5de4" providerId="LiveId" clId="{51133862-03F5-45CD-BF99-606B289C31A9}" dt="2026-04-14T02:10:36.840" v="464" actId="20577"/>
          <ac:spMkLst>
            <pc:docMk/>
            <pc:sldMk cId="2724771778" sldId="290"/>
            <ac:spMk id="25" creationId="{505988DC-F1F8-F226-C756-805722791350}"/>
          </ac:spMkLst>
        </pc:spChg>
        <pc:spChg chg="add del mod">
          <ac:chgData name="Son Nguyen" userId="fa2248167c1d5de4" providerId="LiveId" clId="{51133862-03F5-45CD-BF99-606B289C31A9}" dt="2026-04-14T02:09:25.489" v="443" actId="478"/>
          <ac:spMkLst>
            <pc:docMk/>
            <pc:sldMk cId="2724771778" sldId="290"/>
            <ac:spMk id="26" creationId="{AFE34223-A521-B832-744D-2656E81A26D7}"/>
          </ac:spMkLst>
        </pc:spChg>
        <pc:graphicFrameChg chg="mod modGraphic">
          <ac:chgData name="Son Nguyen" userId="fa2248167c1d5de4" providerId="LiveId" clId="{51133862-03F5-45CD-BF99-606B289C31A9}" dt="2026-04-14T02:10:59.356" v="465" actId="1076"/>
          <ac:graphicFrameMkLst>
            <pc:docMk/>
            <pc:sldMk cId="2724771778" sldId="290"/>
            <ac:graphicFrameMk id="20" creationId="{43186E5D-E8B0-00BB-2869-320BED81AA64}"/>
          </ac:graphicFrameMkLst>
        </pc:graphicFrameChg>
      </pc:sldChg>
      <pc:sldChg chg="modSp">
        <pc:chgData name="Son Nguyen" userId="fa2248167c1d5de4" providerId="LiveId" clId="{51133862-03F5-45CD-BF99-606B289C31A9}" dt="2026-04-14T01:17:58.174" v="16"/>
        <pc:sldMkLst>
          <pc:docMk/>
          <pc:sldMk cId="2356097370" sldId="292"/>
        </pc:sldMkLst>
        <pc:spChg chg="mod">
          <ac:chgData name="Son Nguyen" userId="fa2248167c1d5de4" providerId="LiveId" clId="{51133862-03F5-45CD-BF99-606B289C31A9}" dt="2026-04-14T01:17:58.174" v="16"/>
          <ac:spMkLst>
            <pc:docMk/>
            <pc:sldMk cId="2356097370" sldId="292"/>
            <ac:spMk id="2" creationId="{84AE57BA-13D7-40CC-2276-78129CBB26D5}"/>
          </ac:spMkLst>
        </pc:spChg>
      </pc:sldChg>
      <pc:sldChg chg="addSp delSp modSp mod">
        <pc:chgData name="Son Nguyen" userId="fa2248167c1d5de4" providerId="LiveId" clId="{51133862-03F5-45CD-BF99-606B289C31A9}" dt="2026-04-14T02:08:58.253" v="441" actId="20577"/>
        <pc:sldMkLst>
          <pc:docMk/>
          <pc:sldMk cId="3410957987" sldId="293"/>
        </pc:sldMkLst>
        <pc:spChg chg="add">
          <ac:chgData name="Son Nguyen" userId="fa2248167c1d5de4" providerId="LiveId" clId="{51133862-03F5-45CD-BF99-606B289C31A9}" dt="2026-04-14T01:33:36.837" v="82"/>
          <ac:spMkLst>
            <pc:docMk/>
            <pc:sldMk cId="3410957987" sldId="293"/>
            <ac:spMk id="3" creationId="{0C571AC8-B725-8E0D-F135-A4FF9FEC3583}"/>
          </ac:spMkLst>
        </pc:spChg>
        <pc:spChg chg="mod">
          <ac:chgData name="Son Nguyen" userId="fa2248167c1d5de4" providerId="LiveId" clId="{51133862-03F5-45CD-BF99-606B289C31A9}" dt="2026-04-14T02:08:58.253" v="441" actId="20577"/>
          <ac:spMkLst>
            <pc:docMk/>
            <pc:sldMk cId="3410957987" sldId="293"/>
            <ac:spMk id="7" creationId="{9D8477FA-A625-C2A2-B687-B7E568E68DD2}"/>
          </ac:spMkLst>
        </pc:spChg>
        <pc:graphicFrameChg chg="mod modGraphic">
          <ac:chgData name="Son Nguyen" userId="fa2248167c1d5de4" providerId="LiveId" clId="{51133862-03F5-45CD-BF99-606B289C31A9}" dt="2026-04-14T02:04:43.634" v="419" actId="14100"/>
          <ac:graphicFrameMkLst>
            <pc:docMk/>
            <pc:sldMk cId="3410957987" sldId="293"/>
            <ac:graphicFrameMk id="6" creationId="{22F26525-9C37-2ED9-C072-DD4E2F72B27E}"/>
          </ac:graphicFrameMkLst>
        </pc:graphicFrameChg>
        <pc:picChg chg="del">
          <ac:chgData name="Son Nguyen" userId="fa2248167c1d5de4" providerId="LiveId" clId="{51133862-03F5-45CD-BF99-606B289C31A9}" dt="2026-04-14T01:26:20.903" v="59" actId="21"/>
          <ac:picMkLst>
            <pc:docMk/>
            <pc:sldMk cId="3410957987" sldId="293"/>
            <ac:picMk id="4" creationId="{3890ED63-45A9-E3FF-665F-1E5AB5B6A405}"/>
          </ac:picMkLst>
        </pc:picChg>
      </pc:sldChg>
      <pc:sldChg chg="addSp delSp modSp mod">
        <pc:chgData name="Son Nguyen" userId="fa2248167c1d5de4" providerId="LiveId" clId="{51133862-03F5-45CD-BF99-606B289C31A9}" dt="2026-04-14T01:47:10.449" v="270" actId="2711"/>
        <pc:sldMkLst>
          <pc:docMk/>
          <pc:sldMk cId="393285445" sldId="294"/>
        </pc:sldMkLst>
        <pc:spChg chg="mod">
          <ac:chgData name="Son Nguyen" userId="fa2248167c1d5de4" providerId="LiveId" clId="{51133862-03F5-45CD-BF99-606B289C31A9}" dt="2026-04-14T01:47:10.449" v="270" actId="2711"/>
          <ac:spMkLst>
            <pc:docMk/>
            <pc:sldMk cId="393285445" sldId="294"/>
            <ac:spMk id="7" creationId="{0947D794-29F9-8908-4B26-FCD30FF20FF0}"/>
          </ac:spMkLst>
        </pc:spChg>
        <pc:graphicFrameChg chg="add mod modGraphic">
          <ac:chgData name="Son Nguyen" userId="fa2248167c1d5de4" providerId="LiveId" clId="{51133862-03F5-45CD-BF99-606B289C31A9}" dt="2026-04-14T01:41:56.041" v="201" actId="122"/>
          <ac:graphicFrameMkLst>
            <pc:docMk/>
            <pc:sldMk cId="393285445" sldId="294"/>
            <ac:graphicFrameMk id="3" creationId="{7218B042-C87D-53FB-93A2-534CC47C9014}"/>
          </ac:graphicFrameMkLst>
        </pc:graphicFrameChg>
        <pc:picChg chg="del mod">
          <ac:chgData name="Son Nguyen" userId="fa2248167c1d5de4" providerId="LiveId" clId="{51133862-03F5-45CD-BF99-606B289C31A9}" dt="2026-04-14T01:42:53.874" v="212" actId="21"/>
          <ac:picMkLst>
            <pc:docMk/>
            <pc:sldMk cId="393285445" sldId="294"/>
            <ac:picMk id="4" creationId="{6B422509-8F66-A7C4-3A0F-4731A520D78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33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011D-E9D6-2688-82CF-A8CDA05DE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D3D63-380B-434B-B2CF-5752A07C2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9F1ED-6C0E-256E-0B86-0A4E353DB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309BD-7683-FA0D-A87B-74F0A0F94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33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975FD-C94B-BFCD-52B4-370291180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CE94F-C9C5-B4C3-69F8-30484B065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2B25D-2E7C-FF9D-A5B3-9F1804472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8EEBF-BF72-BBE4-BC40-11F63C47EA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5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3B99F-0CE9-C53F-FB4C-A56A11CC5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10631-37C8-823A-0BC0-1FD6C2422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40D35-7744-74DB-5B8A-D0E12EF46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0CACD-5843-3326-26E6-78E0AF8E4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30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AE07-688D-8B6A-4CBB-103146E5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74A48-7ED9-6E94-3E0C-930CED1A6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4BFE2-AA6D-1BEB-EC6B-8CEA97C2E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B7D3E-7B48-2B97-2FF3-AAF9E79CE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02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435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398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D95D1-40A2-9A86-C53A-1759908D6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9322F-5120-B036-9B99-09A73D3B7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E449E-0552-C052-2763-8BC53FD9A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D92C3-B37D-E057-08B2-D2B532DF9C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08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913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27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542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626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559D9-E654-1778-3DA7-90B795B7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5E3A6-4975-D93B-52F0-EB98693A5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8792C-A118-35E4-2AF1-7948A7B72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CC2CB-2B78-DDF2-590B-B42FC00B6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45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40D195-36BF-99D2-41AB-3C597473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846AA8-BD6C-2166-6B42-41C575C6DB7C}"/>
              </a:ext>
            </a:extLst>
          </p:cNvPr>
          <p:cNvSpPr/>
          <p:nvPr userDrawn="1"/>
        </p:nvSpPr>
        <p:spPr>
          <a:xfrm>
            <a:off x="715879" y="1702468"/>
            <a:ext cx="7799471" cy="326657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91128-F6BD-2D05-5016-BB7EAEE99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31145E9-E938-4BA2-E5ED-33B41860503E}"/>
              </a:ext>
            </a:extLst>
          </p:cNvPr>
          <p:cNvSpPr/>
          <p:nvPr/>
        </p:nvSpPr>
        <p:spPr>
          <a:xfrm>
            <a:off x="-39908" y="0"/>
            <a:ext cx="9288079" cy="5384800"/>
          </a:xfrm>
          <a:prstGeom prst="rect">
            <a:avLst/>
          </a:prstGeom>
          <a:solidFill>
            <a:srgbClr val="0D0D0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80A4BB-44F2-529E-3BE4-830C9E4E6113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5ABA9AE-E886-A596-288A-945C79176527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A92CB01-6CFF-B308-DE32-7ECA8CBE4330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C2245C2-00D2-AFDE-5342-40A30DEAFADC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267F50A-1DB2-A0EE-831E-CB0FC585AE2E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C19CF-F1DE-3A5C-8DEB-1DB7EB5F3E17}"/>
              </a:ext>
            </a:extLst>
          </p:cNvPr>
          <p:cNvSpPr/>
          <p:nvPr/>
        </p:nvSpPr>
        <p:spPr>
          <a:xfrm>
            <a:off x="1152435" y="944975"/>
            <a:ext cx="6839128" cy="111122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8F3DB-6113-F7A7-6517-8C9948EC88C7}"/>
              </a:ext>
            </a:extLst>
          </p:cNvPr>
          <p:cNvSpPr/>
          <p:nvPr/>
        </p:nvSpPr>
        <p:spPr>
          <a:xfrm>
            <a:off x="-190867" y="1135628"/>
            <a:ext cx="9525733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Final Project</a:t>
            </a:r>
            <a:endParaRPr lang="en-US" sz="3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8D0BD-3197-EF2F-45AC-437EEAAD26F2}"/>
              </a:ext>
            </a:extLst>
          </p:cNvPr>
          <p:cNvSpPr txBox="1"/>
          <p:nvPr/>
        </p:nvSpPr>
        <p:spPr>
          <a:xfrm>
            <a:off x="747492" y="2216377"/>
            <a:ext cx="756920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MATH-2200</a:t>
            </a:r>
          </a:p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Professor: Ying Wang</a:t>
            </a:r>
          </a:p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Student: Son Nguyen</a:t>
            </a:r>
          </a:p>
        </p:txBody>
      </p:sp>
    </p:spTree>
    <p:extLst>
      <p:ext uri="{BB962C8B-B14F-4D97-AF65-F5344CB8AC3E}">
        <p14:creationId xmlns:p14="http://schemas.microsoft.com/office/powerpoint/2010/main" val="3162327387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93D54AE-CC86-6FCD-6B2C-EDCC8F67A636}"/>
              </a:ext>
            </a:extLst>
          </p:cNvPr>
          <p:cNvSpPr/>
          <p:nvPr/>
        </p:nvSpPr>
        <p:spPr>
          <a:xfrm>
            <a:off x="19143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586F0-60D6-D1DF-CB10-0CDFE1E2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43" y="487998"/>
            <a:ext cx="7886700" cy="99377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34682-74F2-9D23-4CB1-06461AF54A53}"/>
              </a:ext>
            </a:extLst>
          </p:cNvPr>
          <p:cNvSpPr txBox="1"/>
          <p:nvPr/>
        </p:nvSpPr>
        <p:spPr>
          <a:xfrm>
            <a:off x="476343" y="1660963"/>
            <a:ext cx="822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 1: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customer characteristics are associated with the likelihood of applying a discount?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 2: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factors influence the frequency of items purchased by a customer?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FA7DB3E-CBE4-D0A3-DBF6-FDDF4969084F}"/>
              </a:ext>
            </a:extLst>
          </p:cNvPr>
          <p:cNvSpPr/>
          <p:nvPr/>
        </p:nvSpPr>
        <p:spPr>
          <a:xfrm>
            <a:off x="2188909" y="1248375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87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A965-FE2D-9A5D-080D-F2424B62B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DAB5FF-5E0B-144D-FA5D-578FDDB5EDC0}"/>
              </a:ext>
            </a:extLst>
          </p:cNvPr>
          <p:cNvSpPr/>
          <p:nvPr/>
        </p:nvSpPr>
        <p:spPr>
          <a:xfrm>
            <a:off x="19143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606C48-0108-A2EB-8718-BDAA0643A9F5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E05D5A-369A-870F-3208-A18F3B56A251}"/>
              </a:ext>
            </a:extLst>
          </p:cNvPr>
          <p:cNvSpPr/>
          <p:nvPr/>
        </p:nvSpPr>
        <p:spPr>
          <a:xfrm>
            <a:off x="-45534" y="34290"/>
            <a:ext cx="9273354" cy="9524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E4D586C-A430-75AE-2FE4-0278BD794991}"/>
              </a:ext>
            </a:extLst>
          </p:cNvPr>
          <p:cNvSpPr/>
          <p:nvPr/>
        </p:nvSpPr>
        <p:spPr>
          <a:xfrm>
            <a:off x="3158126" y="838116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05EFD4F-A93E-8121-A0CC-A5001C401D8F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E40D03D-5755-95A4-C2E1-90D124234023}"/>
              </a:ext>
            </a:extLst>
          </p:cNvPr>
          <p:cNvSpPr/>
          <p:nvPr/>
        </p:nvSpPr>
        <p:spPr>
          <a:xfrm>
            <a:off x="4226051" y="1313455"/>
            <a:ext cx="4666105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1B4963F-06C6-20B7-30F0-D32F7FD8A43E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4035E4-E14D-9946-DB96-5F6BB633BDCA}"/>
              </a:ext>
            </a:extLst>
          </p:cNvPr>
          <p:cNvSpPr/>
          <p:nvPr/>
        </p:nvSpPr>
        <p:spPr>
          <a:xfrm>
            <a:off x="4226051" y="1968839"/>
            <a:ext cx="4666117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F36BDDB-2462-11E8-01A3-3AAD43CEEC47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F5260B-991C-1DF7-E660-3F916A5C82CF}"/>
              </a:ext>
            </a:extLst>
          </p:cNvPr>
          <p:cNvSpPr/>
          <p:nvPr/>
        </p:nvSpPr>
        <p:spPr>
          <a:xfrm>
            <a:off x="4221818" y="1283031"/>
            <a:ext cx="4591101" cy="19293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2000" dirty="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800C536-42F3-2ACD-7916-6E5FBCF9B9DC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2D0C33D-87F0-4E0A-CBA1-691F69EECD03}"/>
              </a:ext>
            </a:extLst>
          </p:cNvPr>
          <p:cNvSpPr/>
          <p:nvPr/>
        </p:nvSpPr>
        <p:spPr>
          <a:xfrm>
            <a:off x="4226051" y="3846980"/>
            <a:ext cx="3335306" cy="36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b="1" kern="0" spc="150">
              <a:solidFill>
                <a:srgbClr val="DC143C"/>
              </a:solidFill>
              <a:latin typeface="Inter"/>
              <a:ea typeface="Inter"/>
            </a:endParaRPr>
          </a:p>
        </p:txBody>
      </p:sp>
      <p:pic>
        <p:nvPicPr>
          <p:cNvPr id="9" name="Picture 8" descr="A graph of age distribution&#10;&#10;AI-generated content may be incorrect.">
            <a:extLst>
              <a:ext uri="{FF2B5EF4-FFF2-40B4-BE49-F238E27FC236}">
                <a16:creationId xmlns:a16="http://schemas.microsoft.com/office/drawing/2014/main" id="{BBEE33B8-615C-B34B-F2CE-B1CB6B802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126" y="1242646"/>
            <a:ext cx="2883228" cy="2519076"/>
          </a:xfrm>
          <a:prstGeom prst="rect">
            <a:avLst/>
          </a:prstGeom>
        </p:spPr>
      </p:pic>
      <p:pic>
        <p:nvPicPr>
          <p:cNvPr id="17" name="Picture 16" descr="A graph of a number of columns&#10;&#10;AI-generated content may be incorrect.">
            <a:extLst>
              <a:ext uri="{FF2B5EF4-FFF2-40B4-BE49-F238E27FC236}">
                <a16:creationId xmlns:a16="http://schemas.microsoft.com/office/drawing/2014/main" id="{3F697727-9DAB-D35B-2E8B-F817C8AAA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603" y="1242646"/>
            <a:ext cx="2883229" cy="2519076"/>
          </a:xfrm>
          <a:prstGeom prst="rect">
            <a:avLst/>
          </a:prstGeom>
        </p:spPr>
      </p:pic>
      <p:pic>
        <p:nvPicPr>
          <p:cNvPr id="19" name="Picture 18" descr="A graph of a distribution of items&#10;&#10;AI-generated content may be incorrect.">
            <a:extLst>
              <a:ext uri="{FF2B5EF4-FFF2-40B4-BE49-F238E27FC236}">
                <a16:creationId xmlns:a16="http://schemas.microsoft.com/office/drawing/2014/main" id="{F18402AD-6DB7-85AD-B40E-63A56E4A3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72" y="1242646"/>
            <a:ext cx="2899624" cy="253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57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47AE-761E-056D-5CEF-B2ACAE19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0AC34D-F471-58D8-5D06-E079F06781F3}"/>
              </a:ext>
            </a:extLst>
          </p:cNvPr>
          <p:cNvSpPr/>
          <p:nvPr/>
        </p:nvSpPr>
        <p:spPr>
          <a:xfrm>
            <a:off x="135895" y="-1524"/>
            <a:ext cx="9674219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3D9CE3-EBFC-F097-3427-177FE37CBF84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7A6E3B-55AA-606E-E7E6-11420E6BE105}"/>
              </a:ext>
            </a:extLst>
          </p:cNvPr>
          <p:cNvSpPr/>
          <p:nvPr/>
        </p:nvSpPr>
        <p:spPr>
          <a:xfrm>
            <a:off x="-45534" y="34290"/>
            <a:ext cx="9273354" cy="9524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Predicts Discount Application?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D234650-9F2A-CF58-0F6D-C6E01AF07929}"/>
              </a:ext>
            </a:extLst>
          </p:cNvPr>
          <p:cNvSpPr/>
          <p:nvPr/>
        </p:nvSpPr>
        <p:spPr>
          <a:xfrm>
            <a:off x="1044510" y="653890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9872003-EB4C-BE57-05EB-ED88B7C85A72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41886F4-8540-ED98-4B22-45E8121BA880}"/>
              </a:ext>
            </a:extLst>
          </p:cNvPr>
          <p:cNvSpPr/>
          <p:nvPr/>
        </p:nvSpPr>
        <p:spPr>
          <a:xfrm>
            <a:off x="4226051" y="1313455"/>
            <a:ext cx="4666105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B895877-1398-D137-1290-00AB0CC6AFA8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846A2E0-9CF6-6995-8C02-398EF04F2F16}"/>
              </a:ext>
            </a:extLst>
          </p:cNvPr>
          <p:cNvSpPr/>
          <p:nvPr/>
        </p:nvSpPr>
        <p:spPr>
          <a:xfrm>
            <a:off x="4226051" y="1968839"/>
            <a:ext cx="4666117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A579E7A-E94D-4403-EEBF-C9E40E36BC55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865FF7-0845-33E8-B1E1-55478F59CCC6}"/>
              </a:ext>
            </a:extLst>
          </p:cNvPr>
          <p:cNvSpPr/>
          <p:nvPr/>
        </p:nvSpPr>
        <p:spPr>
          <a:xfrm>
            <a:off x="4221818" y="1283031"/>
            <a:ext cx="4591101" cy="19293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2000" dirty="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FF21A44-435E-2217-620E-7FD235B2E705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3B79DE6-6072-34B9-B5FC-EADA12DC7EE8}"/>
              </a:ext>
            </a:extLst>
          </p:cNvPr>
          <p:cNvSpPr/>
          <p:nvPr/>
        </p:nvSpPr>
        <p:spPr>
          <a:xfrm>
            <a:off x="4226051" y="3846980"/>
            <a:ext cx="3335306" cy="36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b="1" kern="0" spc="150">
              <a:solidFill>
                <a:srgbClr val="DC143C"/>
              </a:solidFill>
              <a:latin typeface="Inter"/>
              <a:ea typeface="Inter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596D998-372C-9A9C-E6E1-1E8AE07B6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969750"/>
              </p:ext>
            </p:extLst>
          </p:nvPr>
        </p:nvGraphicFramePr>
        <p:xfrm>
          <a:off x="267581" y="884979"/>
          <a:ext cx="4342804" cy="2975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701">
                  <a:extLst>
                    <a:ext uri="{9D8B030D-6E8A-4147-A177-3AD203B41FA5}">
                      <a16:colId xmlns:a16="http://schemas.microsoft.com/office/drawing/2014/main" val="2596566314"/>
                    </a:ext>
                  </a:extLst>
                </a:gridCol>
                <a:gridCol w="1085701">
                  <a:extLst>
                    <a:ext uri="{9D8B030D-6E8A-4147-A177-3AD203B41FA5}">
                      <a16:colId xmlns:a16="http://schemas.microsoft.com/office/drawing/2014/main" val="4281382835"/>
                    </a:ext>
                  </a:extLst>
                </a:gridCol>
                <a:gridCol w="1085701">
                  <a:extLst>
                    <a:ext uri="{9D8B030D-6E8A-4147-A177-3AD203B41FA5}">
                      <a16:colId xmlns:a16="http://schemas.microsoft.com/office/drawing/2014/main" val="692315626"/>
                    </a:ext>
                  </a:extLst>
                </a:gridCol>
                <a:gridCol w="1085701">
                  <a:extLst>
                    <a:ext uri="{9D8B030D-6E8A-4147-A177-3AD203B41FA5}">
                      <a16:colId xmlns:a16="http://schemas.microsoft.com/office/drawing/2014/main" val="1367823925"/>
                    </a:ext>
                  </a:extLst>
                </a:gridCol>
              </a:tblGrid>
              <a:tr h="594155">
                <a:tc>
                  <a:txBody>
                    <a:bodyPr/>
                    <a:lstStyle/>
                    <a:p>
                      <a:r>
                        <a:rPr lang="en-US" sz="1600" dirty="0"/>
                        <a:t>Predictor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Odds Ratio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P-value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Significant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3033729667"/>
                  </a:ext>
                </a:extLst>
              </a:tr>
              <a:tr h="344232">
                <a:tc>
                  <a:txBody>
                    <a:bodyPr/>
                    <a:lstStyle/>
                    <a:p>
                      <a:r>
                        <a:rPr lang="en-US" sz="1600" dirty="0"/>
                        <a:t>Age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0.065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0.052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848448429"/>
                  </a:ext>
                </a:extLst>
              </a:tr>
              <a:tr h="594155">
                <a:tc>
                  <a:txBody>
                    <a:bodyPr/>
                    <a:lstStyle/>
                    <a:p>
                      <a:r>
                        <a:rPr lang="en-US" sz="1600" dirty="0"/>
                        <a:t>Total Spend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1.04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0.096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1183311899"/>
                  </a:ext>
                </a:extLst>
              </a:tr>
              <a:tr h="594155">
                <a:tc>
                  <a:txBody>
                    <a:bodyPr/>
                    <a:lstStyle/>
                    <a:p>
                      <a:r>
                        <a:rPr lang="en-US" sz="1600" dirty="0"/>
                        <a:t>Item Purchased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1.859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0.664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2912010714"/>
                  </a:ext>
                </a:extLst>
              </a:tr>
              <a:tr h="848793">
                <a:tc>
                  <a:txBody>
                    <a:bodyPr/>
                    <a:lstStyle/>
                    <a:p>
                      <a:r>
                        <a:rPr lang="en-US" sz="1600" dirty="0"/>
                        <a:t>Days Since Last Purchased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49.21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0.019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387238318"/>
                  </a:ext>
                </a:extLst>
              </a:tr>
            </a:tbl>
          </a:graphicData>
        </a:graphic>
      </p:graphicFrame>
      <p:sp>
        <p:nvSpPr>
          <p:cNvPr id="25" name="Rectangle 3">
            <a:extLst>
              <a:ext uri="{FF2B5EF4-FFF2-40B4-BE49-F238E27FC236}">
                <a16:creationId xmlns:a16="http://schemas.microsoft.com/office/drawing/2014/main" id="{AC11115F-1566-7850-C0BF-A99DEAEE8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51" y="884979"/>
            <a:ext cx="4058368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Days Since Last Purchase was statistically significant (p = 0.019)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 = 49.21 — customers inactive longer are far more likely to apply a discount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Age, Total Spend, and Items Purchased showed no significant effect (p &gt; 0.05)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AD48B9-7127-E935-E313-D329528C2E07}"/>
              </a:ext>
            </a:extLst>
          </p:cNvPr>
          <p:cNvSpPr txBox="1"/>
          <p:nvPr/>
        </p:nvSpPr>
        <p:spPr>
          <a:xfrm>
            <a:off x="267582" y="4087690"/>
            <a:ext cx="8545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en-US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discounts serve as a re-engagement tool for inactive customers 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7334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1E46C-0E2F-745F-BD27-5F65A9D4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D38189-ADA3-95CB-80DA-6C3791AB2C3E}"/>
              </a:ext>
            </a:extLst>
          </p:cNvPr>
          <p:cNvSpPr/>
          <p:nvPr/>
        </p:nvSpPr>
        <p:spPr>
          <a:xfrm>
            <a:off x="19143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ABBA8FE-BF7F-7A9C-5626-D4C7FF2C8CAC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5D66B4-F719-07DF-26F2-2353E319BCFB}"/>
              </a:ext>
            </a:extLst>
          </p:cNvPr>
          <p:cNvSpPr/>
          <p:nvPr/>
        </p:nvSpPr>
        <p:spPr>
          <a:xfrm>
            <a:off x="-45534" y="195660"/>
            <a:ext cx="9273354" cy="9524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 Ratio Test for Total Spend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74EBF1B-4172-0C20-92F4-A124C0D24D1A}"/>
              </a:ext>
            </a:extLst>
          </p:cNvPr>
          <p:cNvSpPr/>
          <p:nvPr/>
        </p:nvSpPr>
        <p:spPr>
          <a:xfrm>
            <a:off x="503258" y="928366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84049B3-91B0-EABE-5C74-65DF89472CA2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A542DD4-758F-D43F-D411-A77FAC00F9C9}"/>
              </a:ext>
            </a:extLst>
          </p:cNvPr>
          <p:cNvSpPr/>
          <p:nvPr/>
        </p:nvSpPr>
        <p:spPr>
          <a:xfrm>
            <a:off x="4226051" y="1313455"/>
            <a:ext cx="4666105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730B803-9B7B-0CA9-823D-37A71743684C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9CE2AC1-4886-F82C-2132-F4A49F2F2C52}"/>
              </a:ext>
            </a:extLst>
          </p:cNvPr>
          <p:cNvSpPr/>
          <p:nvPr/>
        </p:nvSpPr>
        <p:spPr>
          <a:xfrm>
            <a:off x="4226051" y="1968839"/>
            <a:ext cx="4666117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1DBD600-E4D3-792C-E0A3-FA97D8B58E37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8EF2EE0-6AE9-A059-6E3D-2DB2250691E9}"/>
              </a:ext>
            </a:extLst>
          </p:cNvPr>
          <p:cNvSpPr/>
          <p:nvPr/>
        </p:nvSpPr>
        <p:spPr>
          <a:xfrm>
            <a:off x="4221818" y="1283031"/>
            <a:ext cx="4591101" cy="19293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2000" dirty="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7DEE2BC-1338-5806-0FB8-4CAEA4183286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D21BD788-C939-AB72-7C2D-D56D38BF9E3D}"/>
              </a:ext>
            </a:extLst>
          </p:cNvPr>
          <p:cNvSpPr/>
          <p:nvPr/>
        </p:nvSpPr>
        <p:spPr>
          <a:xfrm>
            <a:off x="4226051" y="3846980"/>
            <a:ext cx="3335306" cy="36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b="1" kern="0" spc="150">
              <a:solidFill>
                <a:srgbClr val="DC143C"/>
              </a:solidFill>
              <a:latin typeface="Inter"/>
              <a:ea typeface="Inte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8CB579-4008-F982-0BA5-AE6FDC9C2FEF}"/>
              </a:ext>
            </a:extLst>
          </p:cNvPr>
          <p:cNvSpPr txBox="1"/>
          <p:nvPr/>
        </p:nvSpPr>
        <p:spPr>
          <a:xfrm>
            <a:off x="327895" y="2913680"/>
            <a:ext cx="887706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Total Spend significantly improves model fit (p = 0.004)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Spend should be retained in the model despite p = 0.096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B5452F2F-F047-DA08-71BC-B2133D3AC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12" y="1371420"/>
            <a:ext cx="8741775" cy="132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0410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6708BB54-1ABC-5528-A2ED-44A7EBC789D5}"/>
              </a:ext>
            </a:extLst>
          </p:cNvPr>
          <p:cNvSpPr/>
          <p:nvPr/>
        </p:nvSpPr>
        <p:spPr>
          <a:xfrm>
            <a:off x="19143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8397C-A722-D926-AD97-684EF2B4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95" y="274638"/>
            <a:ext cx="8679497" cy="993775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Hosmer-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Lemeshow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Goodness-of-Fit Test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8B729F7-2AC9-0B0F-3E49-F8D9575F88DE}"/>
              </a:ext>
            </a:extLst>
          </p:cNvPr>
          <p:cNvSpPr/>
          <p:nvPr/>
        </p:nvSpPr>
        <p:spPr>
          <a:xfrm>
            <a:off x="633778" y="918050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E0699B-9F6A-E5F4-074A-42EFABE20763}"/>
              </a:ext>
            </a:extLst>
          </p:cNvPr>
          <p:cNvSpPr txBox="1"/>
          <p:nvPr/>
        </p:nvSpPr>
        <p:spPr>
          <a:xfrm>
            <a:off x="595246" y="3289151"/>
            <a:ext cx="80407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Hosmer-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Lemeshow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test: p = 1.00 → model fits the data well.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probabilities closely match observed outcomes across all groups.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57D0CE-A7EA-D55E-B58F-B00405646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47" y="1422655"/>
            <a:ext cx="7953506" cy="161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7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FD7F0-82B5-7407-6412-C1357EE74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45F5873B-BC26-789E-E083-21A5A5F97340}"/>
              </a:ext>
            </a:extLst>
          </p:cNvPr>
          <p:cNvSpPr/>
          <p:nvPr/>
        </p:nvSpPr>
        <p:spPr>
          <a:xfrm>
            <a:off x="19143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DA706-2239-C77E-30C6-CC97A62A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9766"/>
            <a:ext cx="7886700" cy="99377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Somer’s D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0CB4C0-C320-BB20-5A61-CA50557B8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54927"/>
              </p:ext>
            </p:extLst>
          </p:nvPr>
        </p:nvGraphicFramePr>
        <p:xfrm>
          <a:off x="507137" y="1394831"/>
          <a:ext cx="8168012" cy="99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03">
                  <a:extLst>
                    <a:ext uri="{9D8B030D-6E8A-4147-A177-3AD203B41FA5}">
                      <a16:colId xmlns:a16="http://schemas.microsoft.com/office/drawing/2014/main" val="810308610"/>
                    </a:ext>
                  </a:extLst>
                </a:gridCol>
                <a:gridCol w="2042003">
                  <a:extLst>
                    <a:ext uri="{9D8B030D-6E8A-4147-A177-3AD203B41FA5}">
                      <a16:colId xmlns:a16="http://schemas.microsoft.com/office/drawing/2014/main" val="2377114875"/>
                    </a:ext>
                  </a:extLst>
                </a:gridCol>
                <a:gridCol w="2042003">
                  <a:extLst>
                    <a:ext uri="{9D8B030D-6E8A-4147-A177-3AD203B41FA5}">
                      <a16:colId xmlns:a16="http://schemas.microsoft.com/office/drawing/2014/main" val="1223586124"/>
                    </a:ext>
                  </a:extLst>
                </a:gridCol>
                <a:gridCol w="2042003">
                  <a:extLst>
                    <a:ext uri="{9D8B030D-6E8A-4147-A177-3AD203B41FA5}">
                      <a16:colId xmlns:a16="http://schemas.microsoft.com/office/drawing/2014/main" val="1237337442"/>
                    </a:ext>
                  </a:extLst>
                </a:gridCol>
              </a:tblGrid>
              <a:tr h="496888">
                <a:tc>
                  <a:txBody>
                    <a:bodyPr/>
                    <a:lstStyle/>
                    <a:p>
                      <a:r>
                        <a:rPr lang="en-US" sz="2400" dirty="0"/>
                        <a:t>Somer’s D</a:t>
                      </a:r>
                    </a:p>
                  </a:txBody>
                  <a:tcPr marL="122520" marR="122520" marT="61260" marB="612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 statistic</a:t>
                      </a:r>
                    </a:p>
                  </a:txBody>
                  <a:tcPr marL="122520" marR="122520" marT="61260" marB="612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</a:t>
                      </a:r>
                    </a:p>
                  </a:txBody>
                  <a:tcPr marL="122520" marR="122520" marT="61260" marB="612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Missing</a:t>
                      </a:r>
                    </a:p>
                  </a:txBody>
                  <a:tcPr marL="122520" marR="122520" marT="61260" marB="61260"/>
                </a:tc>
                <a:extLst>
                  <a:ext uri="{0D108BD9-81ED-4DB2-BD59-A6C34878D82A}">
                    <a16:rowId xmlns:a16="http://schemas.microsoft.com/office/drawing/2014/main" val="2715165859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r>
                        <a:rPr lang="en-US" sz="2400" dirty="0"/>
                        <a:t>0.998</a:t>
                      </a:r>
                    </a:p>
                  </a:txBody>
                  <a:tcPr marL="122520" marR="122520" marT="61260" marB="612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0.9999</a:t>
                      </a:r>
                    </a:p>
                  </a:txBody>
                  <a:tcPr marL="122520" marR="122520" marT="61260" marB="612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350.0</a:t>
                      </a:r>
                    </a:p>
                  </a:txBody>
                  <a:tcPr marL="122520" marR="122520" marT="61260" marB="612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0.0</a:t>
                      </a:r>
                    </a:p>
                  </a:txBody>
                  <a:tcPr marL="122520" marR="122520" marT="61260" marB="61260"/>
                </a:tc>
                <a:extLst>
                  <a:ext uri="{0D108BD9-81ED-4DB2-BD59-A6C34878D82A}">
                    <a16:rowId xmlns:a16="http://schemas.microsoft.com/office/drawing/2014/main" val="335780546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E373D28-D5FF-1FA6-2180-5A277EF8A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2731900"/>
            <a:ext cx="837184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Somer's D = 0.9998 → near perfect discrimination ability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correctly ranks discount vs non-discount customers almost perfectly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 statistic = 0.9999 → excellent model performance (well above 0.7 threshold) 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44E6AD4-A6CC-E8DB-3F88-2BFDF408A2C2}"/>
              </a:ext>
            </a:extLst>
          </p:cNvPr>
          <p:cNvSpPr/>
          <p:nvPr/>
        </p:nvSpPr>
        <p:spPr>
          <a:xfrm>
            <a:off x="3337898" y="930325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2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B6963F5-95D9-6612-B49E-71375FDE0E1C}"/>
              </a:ext>
            </a:extLst>
          </p:cNvPr>
          <p:cNvSpPr/>
          <p:nvPr/>
        </p:nvSpPr>
        <p:spPr>
          <a:xfrm>
            <a:off x="19143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3A71B-2A17-88E9-E40B-FEF557D4D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93" y="96965"/>
            <a:ext cx="7886700" cy="993775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00FB89-FE11-0311-B2E7-678423B2F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230150"/>
              </p:ext>
            </p:extLst>
          </p:nvPr>
        </p:nvGraphicFramePr>
        <p:xfrm>
          <a:off x="1838960" y="1090740"/>
          <a:ext cx="5232399" cy="118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133">
                  <a:extLst>
                    <a:ext uri="{9D8B030D-6E8A-4147-A177-3AD203B41FA5}">
                      <a16:colId xmlns:a16="http://schemas.microsoft.com/office/drawing/2014/main" val="2363317835"/>
                    </a:ext>
                  </a:extLst>
                </a:gridCol>
                <a:gridCol w="1744133">
                  <a:extLst>
                    <a:ext uri="{9D8B030D-6E8A-4147-A177-3AD203B41FA5}">
                      <a16:colId xmlns:a16="http://schemas.microsoft.com/office/drawing/2014/main" val="1493710093"/>
                    </a:ext>
                  </a:extLst>
                </a:gridCol>
                <a:gridCol w="1744133">
                  <a:extLst>
                    <a:ext uri="{9D8B030D-6E8A-4147-A177-3AD203B41FA5}">
                      <a16:colId xmlns:a16="http://schemas.microsoft.com/office/drawing/2014/main" val="428961039"/>
                    </a:ext>
                  </a:extLst>
                </a:gridCol>
              </a:tblGrid>
              <a:tr h="318304"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8486" marR="78486" marT="39243" marB="3924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Actual: 0 </a:t>
                      </a:r>
                    </a:p>
                  </a:txBody>
                  <a:tcPr marL="78486" marR="78486" marT="39243" marB="3924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Actual:1</a:t>
                      </a:r>
                    </a:p>
                  </a:txBody>
                  <a:tcPr marL="78486" marR="78486" marT="39243" marB="39243"/>
                </a:tc>
                <a:extLst>
                  <a:ext uri="{0D108BD9-81ED-4DB2-BD59-A6C34878D82A}">
                    <a16:rowId xmlns:a16="http://schemas.microsoft.com/office/drawing/2014/main" val="1572035957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Predicted: 0</a:t>
                      </a:r>
                    </a:p>
                    <a:p>
                      <a:endParaRPr lang="en-US" sz="1500" dirty="0"/>
                    </a:p>
                  </a:txBody>
                  <a:tcPr marL="78486" marR="78486" marT="39243" marB="3924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173</a:t>
                      </a:r>
                    </a:p>
                  </a:txBody>
                  <a:tcPr marL="78486" marR="78486" marT="39243" marB="3924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1</a:t>
                      </a:r>
                    </a:p>
                  </a:txBody>
                  <a:tcPr marL="78486" marR="78486" marT="39243" marB="39243"/>
                </a:tc>
                <a:extLst>
                  <a:ext uri="{0D108BD9-81ED-4DB2-BD59-A6C34878D82A}">
                    <a16:rowId xmlns:a16="http://schemas.microsoft.com/office/drawing/2014/main" val="477311784"/>
                  </a:ext>
                </a:extLst>
              </a:tr>
              <a:tr h="318304">
                <a:tc>
                  <a:txBody>
                    <a:bodyPr/>
                    <a:lstStyle/>
                    <a:p>
                      <a:r>
                        <a:rPr lang="en-US" sz="1500" dirty="0"/>
                        <a:t>Predicted: 1</a:t>
                      </a:r>
                    </a:p>
                  </a:txBody>
                  <a:tcPr marL="78486" marR="78486" marT="39243" marB="3924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</a:t>
                      </a:r>
                    </a:p>
                  </a:txBody>
                  <a:tcPr marL="78486" marR="78486" marT="39243" marB="3924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174</a:t>
                      </a:r>
                    </a:p>
                  </a:txBody>
                  <a:tcPr marL="78486" marR="78486" marT="39243" marB="39243"/>
                </a:tc>
                <a:extLst>
                  <a:ext uri="{0D108BD9-81ED-4DB2-BD59-A6C34878D82A}">
                    <a16:rowId xmlns:a16="http://schemas.microsoft.com/office/drawing/2014/main" val="18408098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1E00ADD-1CDA-EE59-71F9-6E516A07F96A}"/>
              </a:ext>
            </a:extLst>
          </p:cNvPr>
          <p:cNvSpPr txBox="1"/>
          <p:nvPr/>
        </p:nvSpPr>
        <p:spPr>
          <a:xfrm>
            <a:off x="342992" y="2380516"/>
            <a:ext cx="8427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correctly classified 347 out of 350 customers (99.1% accuracy).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 = 99.4% — almost all discount users correctly identified 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Specificity = 98.9% — almost all non-discount users correctly identified 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3 misclassifications out of 350 observations.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F6B7271-3D07-0975-B116-A3AD27124534}"/>
              </a:ext>
            </a:extLst>
          </p:cNvPr>
          <p:cNvSpPr/>
          <p:nvPr/>
        </p:nvSpPr>
        <p:spPr>
          <a:xfrm>
            <a:off x="2728298" y="808405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54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15DCE99-1331-A31F-407E-E8B37A7B8889}"/>
              </a:ext>
            </a:extLst>
          </p:cNvPr>
          <p:cNvSpPr/>
          <p:nvPr/>
        </p:nvSpPr>
        <p:spPr>
          <a:xfrm>
            <a:off x="19143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89E5C-16B1-2B44-F02C-512AC5FA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792" y="120835"/>
            <a:ext cx="7886700" cy="993775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and AUC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D2F7CA-27CC-9532-D739-C02D2B327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10" y="4174959"/>
            <a:ext cx="3441026" cy="347699"/>
          </a:xfrm>
          <a:prstGeom prst="rect">
            <a:avLst/>
          </a:prstGeom>
        </p:spPr>
      </p:pic>
      <p:pic>
        <p:nvPicPr>
          <p:cNvPr id="7" name="Picture 6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4A830E17-0142-3793-6CB1-411EB3BE4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35" y="1114610"/>
            <a:ext cx="3258146" cy="28466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3FF4FF-B302-6870-87AE-64A0E4864737}"/>
              </a:ext>
            </a:extLst>
          </p:cNvPr>
          <p:cNvSpPr txBox="1"/>
          <p:nvPr/>
        </p:nvSpPr>
        <p:spPr>
          <a:xfrm>
            <a:off x="4351030" y="888343"/>
            <a:ext cx="45073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AUC = 0.9999 — near perfect model discrimination.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Model can almost perfectly distinguish between customers who apply a discount and those who don’t.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ROC curve hugs the top left corner, confirming exceptional predictive performance.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26D3B40-0ECF-4D9E-6921-BA756FAA86D2}"/>
              </a:ext>
            </a:extLst>
          </p:cNvPr>
          <p:cNvSpPr/>
          <p:nvPr/>
        </p:nvSpPr>
        <p:spPr>
          <a:xfrm>
            <a:off x="2873078" y="794691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2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5195A-E0C9-4BF2-4168-8E744ABE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EFEC29-CB6F-4708-0015-23D44E78BDEC}"/>
              </a:ext>
            </a:extLst>
          </p:cNvPr>
          <p:cNvSpPr/>
          <p:nvPr/>
        </p:nvSpPr>
        <p:spPr>
          <a:xfrm>
            <a:off x="1" y="-1524"/>
            <a:ext cx="9810114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7B3F9FA-AAE4-5CD0-20F7-185A7E3594AF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E62D5D-BD29-607B-C5F4-4A562ED55725}"/>
              </a:ext>
            </a:extLst>
          </p:cNvPr>
          <p:cNvSpPr/>
          <p:nvPr/>
        </p:nvSpPr>
        <p:spPr>
          <a:xfrm>
            <a:off x="-45534" y="34290"/>
            <a:ext cx="9273354" cy="9524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FF0000"/>
                </a:solidFill>
              </a:rPr>
              <a:t>What Influences Purchase Frequency?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7E5FCC-2AE1-4256-064D-FDE24C2B93D0}"/>
              </a:ext>
            </a:extLst>
          </p:cNvPr>
          <p:cNvSpPr/>
          <p:nvPr/>
        </p:nvSpPr>
        <p:spPr>
          <a:xfrm>
            <a:off x="1044510" y="653890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9E1C1D0-6613-0DE0-FE1E-313512A9FD92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DF5A8DB-839C-4D38-AB61-888D01E96802}"/>
              </a:ext>
            </a:extLst>
          </p:cNvPr>
          <p:cNvSpPr/>
          <p:nvPr/>
        </p:nvSpPr>
        <p:spPr>
          <a:xfrm>
            <a:off x="4226051" y="1313455"/>
            <a:ext cx="4666105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FE68E89-E7D1-BB03-AB8E-BD5E2554A55F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F5FF44-18B2-CDC2-3951-C5A81036481D}"/>
              </a:ext>
            </a:extLst>
          </p:cNvPr>
          <p:cNvSpPr/>
          <p:nvPr/>
        </p:nvSpPr>
        <p:spPr>
          <a:xfrm>
            <a:off x="4226051" y="1968839"/>
            <a:ext cx="4666117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875FEA2-74BD-B620-0D5D-A55AE229EC48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24C0A91-5542-E175-964F-AFC68C8C41CB}"/>
              </a:ext>
            </a:extLst>
          </p:cNvPr>
          <p:cNvSpPr/>
          <p:nvPr/>
        </p:nvSpPr>
        <p:spPr>
          <a:xfrm>
            <a:off x="4221818" y="1283031"/>
            <a:ext cx="4591101" cy="19293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2000" dirty="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6231098-E3B9-D7D6-3776-FCC9194CDBF9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267EDF6E-F0FF-A31D-709E-8B5E0C4A647C}"/>
              </a:ext>
            </a:extLst>
          </p:cNvPr>
          <p:cNvSpPr/>
          <p:nvPr/>
        </p:nvSpPr>
        <p:spPr>
          <a:xfrm>
            <a:off x="4226051" y="3846980"/>
            <a:ext cx="3335306" cy="36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b="1" kern="0" spc="150">
              <a:solidFill>
                <a:srgbClr val="DC143C"/>
              </a:solidFill>
              <a:latin typeface="Inter"/>
              <a:ea typeface="Inter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3186E5D-E8B0-00BB-2869-320BED81A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352286"/>
              </p:ext>
            </p:extLst>
          </p:nvPr>
        </p:nvGraphicFramePr>
        <p:xfrm>
          <a:off x="229196" y="1121671"/>
          <a:ext cx="4342804" cy="2975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701">
                  <a:extLst>
                    <a:ext uri="{9D8B030D-6E8A-4147-A177-3AD203B41FA5}">
                      <a16:colId xmlns:a16="http://schemas.microsoft.com/office/drawing/2014/main" val="2596566314"/>
                    </a:ext>
                  </a:extLst>
                </a:gridCol>
                <a:gridCol w="1085701">
                  <a:extLst>
                    <a:ext uri="{9D8B030D-6E8A-4147-A177-3AD203B41FA5}">
                      <a16:colId xmlns:a16="http://schemas.microsoft.com/office/drawing/2014/main" val="4281382835"/>
                    </a:ext>
                  </a:extLst>
                </a:gridCol>
                <a:gridCol w="1085701">
                  <a:extLst>
                    <a:ext uri="{9D8B030D-6E8A-4147-A177-3AD203B41FA5}">
                      <a16:colId xmlns:a16="http://schemas.microsoft.com/office/drawing/2014/main" val="692315626"/>
                    </a:ext>
                  </a:extLst>
                </a:gridCol>
                <a:gridCol w="1085701">
                  <a:extLst>
                    <a:ext uri="{9D8B030D-6E8A-4147-A177-3AD203B41FA5}">
                      <a16:colId xmlns:a16="http://schemas.microsoft.com/office/drawing/2014/main" val="1367823925"/>
                    </a:ext>
                  </a:extLst>
                </a:gridCol>
              </a:tblGrid>
              <a:tr h="594155">
                <a:tc>
                  <a:txBody>
                    <a:bodyPr/>
                    <a:lstStyle/>
                    <a:p>
                      <a:r>
                        <a:rPr lang="en-US" sz="1600" dirty="0"/>
                        <a:t>Predictor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Rate Ratio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P-value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Significant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3033729667"/>
                  </a:ext>
                </a:extLst>
              </a:tr>
              <a:tr h="344232">
                <a:tc>
                  <a:txBody>
                    <a:bodyPr/>
                    <a:lstStyle/>
                    <a:p>
                      <a:r>
                        <a:rPr lang="en-US" sz="1600" dirty="0"/>
                        <a:t>Age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0.999492 </a:t>
                      </a:r>
                      <a:endParaRPr lang="en-US" sz="1600" dirty="0"/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0.92199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848448429"/>
                  </a:ext>
                </a:extLst>
              </a:tr>
              <a:tr h="594155">
                <a:tc>
                  <a:txBody>
                    <a:bodyPr/>
                    <a:lstStyle/>
                    <a:p>
                      <a:r>
                        <a:rPr lang="en-US" sz="1600" dirty="0"/>
                        <a:t>Total Spend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1.000752</a:t>
                      </a:r>
                      <a:endParaRPr lang="en-US" sz="1600" dirty="0"/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8.75e-08</a:t>
                      </a:r>
                      <a:endParaRPr lang="en-US" sz="1600" dirty="0"/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1183311899"/>
                  </a:ext>
                </a:extLst>
              </a:tr>
              <a:tr h="594155">
                <a:tc>
                  <a:txBody>
                    <a:bodyPr/>
                    <a:lstStyle/>
                    <a:p>
                      <a:r>
                        <a:rPr lang="en-US" sz="1600" dirty="0"/>
                        <a:t>Average Rating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1.127896 </a:t>
                      </a:r>
                      <a:endParaRPr lang="en-US" sz="1600" dirty="0"/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0.18652 </a:t>
                      </a:r>
                      <a:endParaRPr lang="en-US" sz="1600" dirty="0"/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2912010714"/>
                  </a:ext>
                </a:extLst>
              </a:tr>
              <a:tr h="848793">
                <a:tc>
                  <a:txBody>
                    <a:bodyPr/>
                    <a:lstStyle/>
                    <a:p>
                      <a:r>
                        <a:rPr lang="en-US" sz="1600" dirty="0"/>
                        <a:t>Days Since Last Purchased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1.004366 </a:t>
                      </a:r>
                      <a:endParaRPr lang="en-US" sz="1600" dirty="0"/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0.005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387238318"/>
                  </a:ext>
                </a:extLst>
              </a:tr>
            </a:tbl>
          </a:graphicData>
        </a:graphic>
      </p:graphicFrame>
      <p:sp>
        <p:nvSpPr>
          <p:cNvPr id="25" name="Rectangle 3">
            <a:extLst>
              <a:ext uri="{FF2B5EF4-FFF2-40B4-BE49-F238E27FC236}">
                <a16:creationId xmlns:a16="http://schemas.microsoft.com/office/drawing/2014/main" id="{505988DC-F1F8-F226-C756-805722791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50" y="815729"/>
            <a:ext cx="453130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Spend and Days Since Last Purchase are significant (p &lt; 0.05).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and Average Rating show no significant effect.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Customers who spend more and have been inactive longer tend to purchase more items.</a:t>
            </a:r>
          </a:p>
        </p:txBody>
      </p:sp>
    </p:spTree>
    <p:extLst>
      <p:ext uri="{BB962C8B-B14F-4D97-AF65-F5344CB8AC3E}">
        <p14:creationId xmlns:p14="http://schemas.microsoft.com/office/powerpoint/2010/main" val="2724771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C1C6-A52C-DF22-460B-CEA65032C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1A0EC0E1-37DB-B650-A4AF-31DAF875A0AB}"/>
              </a:ext>
            </a:extLst>
          </p:cNvPr>
          <p:cNvSpPr/>
          <p:nvPr/>
        </p:nvSpPr>
        <p:spPr>
          <a:xfrm>
            <a:off x="0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E57BA-13D7-40CC-2276-78129CBB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RS2: Overdispersion Test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8F380-1951-79B6-E347-8825DC0AD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768" y="1234599"/>
            <a:ext cx="4937952" cy="1600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4B2EEF-69D4-146E-C2F4-2082AED7783B}"/>
              </a:ext>
            </a:extLst>
          </p:cNvPr>
          <p:cNvSpPr txBox="1"/>
          <p:nvPr/>
        </p:nvSpPr>
        <p:spPr>
          <a:xfrm>
            <a:off x="628650" y="2952684"/>
            <a:ext cx="80124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Overdispersion test: p = 1.00, dispersion = 0.045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overdispersion detected variance is actually less than the mean (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underdispersion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Poisson model is appropriate, no need for Quasi-Poisson adjustment.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52E8187-824D-9D96-2BC0-F7CC69BA06EA}"/>
              </a:ext>
            </a:extLst>
          </p:cNvPr>
          <p:cNvSpPr/>
          <p:nvPr/>
        </p:nvSpPr>
        <p:spPr>
          <a:xfrm>
            <a:off x="1821750" y="917525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97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F78AE180-14D0-631A-B170-DFE46620374B}"/>
              </a:ext>
            </a:extLst>
          </p:cNvPr>
          <p:cNvSpPr/>
          <p:nvPr/>
        </p:nvSpPr>
        <p:spPr>
          <a:xfrm>
            <a:off x="0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9CEF9-E19B-BE0D-41E3-146DA9E3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1175"/>
            <a:ext cx="7886700" cy="993775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Quasi Poisson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F26525-9C37-2ED9-C072-DD4E2F72B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739069"/>
              </p:ext>
            </p:extLst>
          </p:nvPr>
        </p:nvGraphicFramePr>
        <p:xfrm>
          <a:off x="108152" y="1172300"/>
          <a:ext cx="4197147" cy="3239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049">
                  <a:extLst>
                    <a:ext uri="{9D8B030D-6E8A-4147-A177-3AD203B41FA5}">
                      <a16:colId xmlns:a16="http://schemas.microsoft.com/office/drawing/2014/main" val="2596566314"/>
                    </a:ext>
                  </a:extLst>
                </a:gridCol>
                <a:gridCol w="1399049">
                  <a:extLst>
                    <a:ext uri="{9D8B030D-6E8A-4147-A177-3AD203B41FA5}">
                      <a16:colId xmlns:a16="http://schemas.microsoft.com/office/drawing/2014/main" val="692315626"/>
                    </a:ext>
                  </a:extLst>
                </a:gridCol>
                <a:gridCol w="1399049">
                  <a:extLst>
                    <a:ext uri="{9D8B030D-6E8A-4147-A177-3AD203B41FA5}">
                      <a16:colId xmlns:a16="http://schemas.microsoft.com/office/drawing/2014/main" val="1367823925"/>
                    </a:ext>
                  </a:extLst>
                </a:gridCol>
              </a:tblGrid>
              <a:tr h="646909">
                <a:tc>
                  <a:txBody>
                    <a:bodyPr/>
                    <a:lstStyle/>
                    <a:p>
                      <a:r>
                        <a:rPr lang="en-US" sz="1600" dirty="0"/>
                        <a:t>Predictor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P-value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Significant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3033729667"/>
                  </a:ext>
                </a:extLst>
              </a:tr>
              <a:tr h="374796">
                <a:tc>
                  <a:txBody>
                    <a:bodyPr/>
                    <a:lstStyle/>
                    <a:p>
                      <a:r>
                        <a:rPr lang="en-US" sz="1600" dirty="0"/>
                        <a:t>Age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0.646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848448429"/>
                  </a:ext>
                </a:extLst>
              </a:tr>
              <a:tr h="646909">
                <a:tc>
                  <a:txBody>
                    <a:bodyPr/>
                    <a:lstStyle/>
                    <a:p>
                      <a:r>
                        <a:rPr lang="en-US" sz="1600" dirty="0"/>
                        <a:t>Total Spend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&lt; 2e-16</a:t>
                      </a:r>
                      <a:endParaRPr lang="en-US" sz="1600" dirty="0"/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1183311899"/>
                  </a:ext>
                </a:extLst>
              </a:tr>
              <a:tr h="646909">
                <a:tc>
                  <a:txBody>
                    <a:bodyPr/>
                    <a:lstStyle/>
                    <a:p>
                      <a:r>
                        <a:rPr lang="en-US" sz="1600" dirty="0"/>
                        <a:t>Average Rating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1.53e-09</a:t>
                      </a:r>
                      <a:endParaRPr lang="en-US" sz="1600" dirty="0"/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2912010714"/>
                  </a:ext>
                </a:extLst>
              </a:tr>
              <a:tr h="924156">
                <a:tc>
                  <a:txBody>
                    <a:bodyPr/>
                    <a:lstStyle/>
                    <a:p>
                      <a:r>
                        <a:rPr lang="en-US" sz="1600" dirty="0"/>
                        <a:t>Days Since Last Purchased</a:t>
                      </a:r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&lt; 2e-16</a:t>
                      </a:r>
                      <a:endParaRPr lang="en-US" sz="1600" dirty="0"/>
                    </a:p>
                  </a:txBody>
                  <a:tcPr marL="84879" marR="84879" marT="42440" marB="4244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84879" marR="84879" marT="42440" marB="42440"/>
                </a:tc>
                <a:extLst>
                  <a:ext uri="{0D108BD9-81ED-4DB2-BD59-A6C34878D82A}">
                    <a16:rowId xmlns:a16="http://schemas.microsoft.com/office/drawing/2014/main" val="3872383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8477FA-A625-C2A2-B687-B7E568E68DD2}"/>
              </a:ext>
            </a:extLst>
          </p:cNvPr>
          <p:cNvSpPr txBox="1"/>
          <p:nvPr/>
        </p:nvSpPr>
        <p:spPr>
          <a:xfrm>
            <a:off x="4450956" y="1083210"/>
            <a:ext cx="440348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Spend, Average Rating, and Days Since Last Purchase are significant (p &lt; 0.05)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has no significant effect on items purchased (p = 0.646).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total spend, better ratings, and longer inactivity all predict more items purchased.</a:t>
            </a:r>
          </a:p>
          <a:p>
            <a:endParaRPr lang="en-US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8BCED6A-652F-582B-0A86-E1D76758C214}"/>
              </a:ext>
            </a:extLst>
          </p:cNvPr>
          <p:cNvSpPr/>
          <p:nvPr/>
        </p:nvSpPr>
        <p:spPr>
          <a:xfrm>
            <a:off x="3101910" y="818465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5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31E6E6A8-7B8F-DFB3-9981-D740FE132A8B}"/>
              </a:ext>
            </a:extLst>
          </p:cNvPr>
          <p:cNvSpPr/>
          <p:nvPr/>
        </p:nvSpPr>
        <p:spPr>
          <a:xfrm>
            <a:off x="0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95FDEE-D275-0826-3BA1-6EFB805E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615"/>
            <a:ext cx="7886700" cy="993775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EAF5A849-2ADD-751F-6354-7F6C2AC31EDD}"/>
              </a:ext>
            </a:extLst>
          </p:cNvPr>
          <p:cNvSpPr/>
          <p:nvPr/>
        </p:nvSpPr>
        <p:spPr>
          <a:xfrm>
            <a:off x="2736150" y="690362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7D794-29F9-8908-4B26-FCD30FF20FF0}"/>
              </a:ext>
            </a:extLst>
          </p:cNvPr>
          <p:cNvSpPr txBox="1"/>
          <p:nvPr/>
        </p:nvSpPr>
        <p:spPr>
          <a:xfrm>
            <a:off x="308117" y="2278380"/>
            <a:ext cx="77228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(2.47) and Days Since Last Purchase (1.96) show no multicollinearity concern. ( VIF &lt; 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Spend (VIF = 12.37) and Average Rating (VIF = 11.63) both exceed the acceptable threshold of 10. This shows sign of multicollinearity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18B042-C87D-53FB-93A2-534CC47C9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025570"/>
              </p:ext>
            </p:extLst>
          </p:nvPr>
        </p:nvGraphicFramePr>
        <p:xfrm>
          <a:off x="853440" y="1120878"/>
          <a:ext cx="7033260" cy="1127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315">
                  <a:extLst>
                    <a:ext uri="{9D8B030D-6E8A-4147-A177-3AD203B41FA5}">
                      <a16:colId xmlns:a16="http://schemas.microsoft.com/office/drawing/2014/main" val="3645330075"/>
                    </a:ext>
                  </a:extLst>
                </a:gridCol>
                <a:gridCol w="1758315">
                  <a:extLst>
                    <a:ext uri="{9D8B030D-6E8A-4147-A177-3AD203B41FA5}">
                      <a16:colId xmlns:a16="http://schemas.microsoft.com/office/drawing/2014/main" val="244501177"/>
                    </a:ext>
                  </a:extLst>
                </a:gridCol>
                <a:gridCol w="1758315">
                  <a:extLst>
                    <a:ext uri="{9D8B030D-6E8A-4147-A177-3AD203B41FA5}">
                      <a16:colId xmlns:a16="http://schemas.microsoft.com/office/drawing/2014/main" val="2478078672"/>
                    </a:ext>
                  </a:extLst>
                </a:gridCol>
                <a:gridCol w="1758315">
                  <a:extLst>
                    <a:ext uri="{9D8B030D-6E8A-4147-A177-3AD203B41FA5}">
                      <a16:colId xmlns:a16="http://schemas.microsoft.com/office/drawing/2014/main" val="3864798853"/>
                    </a:ext>
                  </a:extLst>
                </a:gridCol>
              </a:tblGrid>
              <a:tr h="4878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Days Since Last Purchase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686488"/>
                  </a:ext>
                </a:extLst>
              </a:tr>
              <a:tr h="4878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2.465462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12.370244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11.631543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1.958317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41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85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518A99C2-0C1A-D996-4741-804BF470BF11}"/>
              </a:ext>
            </a:extLst>
          </p:cNvPr>
          <p:cNvSpPr/>
          <p:nvPr/>
        </p:nvSpPr>
        <p:spPr>
          <a:xfrm>
            <a:off x="0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29971-4033-838E-4514-12E197C1C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3775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9AFAB-3581-EC41-04BE-66827F96F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08" y="1070293"/>
            <a:ext cx="4230592" cy="3696268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ABB56871-1616-9563-6F2E-0294107C21FE}"/>
              </a:ext>
            </a:extLst>
          </p:cNvPr>
          <p:cNvSpPr/>
          <p:nvPr/>
        </p:nvSpPr>
        <p:spPr>
          <a:xfrm>
            <a:off x="3147630" y="629905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C8258E-2F18-FB65-82EB-04846C4B94C0}"/>
              </a:ext>
            </a:extLst>
          </p:cNvPr>
          <p:cNvSpPr txBox="1"/>
          <p:nvPr/>
        </p:nvSpPr>
        <p:spPr>
          <a:xfrm>
            <a:off x="4975860" y="1143000"/>
            <a:ext cx="390293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specific pattern in residuals model assumptions are reasonably met.</a:t>
            </a:r>
          </a:p>
          <a:p>
            <a:pPr algn="just"/>
            <a:endParaRPr lang="en-US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Residuals centered around 0 across all fitted values.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 spread at some points but overall the model fits well.</a:t>
            </a:r>
          </a:p>
          <a:p>
            <a:pPr algn="just"/>
            <a:endParaRPr lang="en-US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935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17172-564F-814A-1E64-74CC6DCC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A58C8A-7801-0787-8B89-01486762A5BD}"/>
              </a:ext>
            </a:extLst>
          </p:cNvPr>
          <p:cNvSpPr/>
          <p:nvPr/>
        </p:nvSpPr>
        <p:spPr>
          <a:xfrm>
            <a:off x="-19050" y="-24874"/>
            <a:ext cx="9182100" cy="520799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3B328C9-6908-C490-5576-B737D0148686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4FB79AE-8EFE-76F8-C146-DCD5D0451041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8E36473-2FED-8D11-6669-0027BE3124B1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01D4EB2-2922-3284-B72B-589C144043F7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B6DAAA6-7ABB-4A1D-3409-3787A84637DF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F9E642-4A59-2393-2CEE-20AB6D11739F}"/>
              </a:ext>
            </a:extLst>
          </p:cNvPr>
          <p:cNvSpPr/>
          <p:nvPr/>
        </p:nvSpPr>
        <p:spPr>
          <a:xfrm>
            <a:off x="1987296" y="1809846"/>
            <a:ext cx="5705921" cy="115179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A240A-F2FC-76CE-686B-B8F4434298AB}"/>
              </a:ext>
            </a:extLst>
          </p:cNvPr>
          <p:cNvSpPr/>
          <p:nvPr/>
        </p:nvSpPr>
        <p:spPr>
          <a:xfrm>
            <a:off x="1450783" y="1133063"/>
            <a:ext cx="6735382" cy="2448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latin typeface="Playfair Display" panose="00000500000000000000" pitchFamily="2" charset="0"/>
              </a:rPr>
              <a:t>Thank you for your attention!</a:t>
            </a:r>
          </a:p>
          <a:p>
            <a:pPr algn="ctr"/>
            <a:r>
              <a:rPr lang="en-US" sz="2800" b="1">
                <a:latin typeface="Playfair Display" panose="00000500000000000000" pitchFamily="2" charset="0"/>
              </a:rPr>
              <a:t>Any question ?</a:t>
            </a:r>
          </a:p>
        </p:txBody>
      </p:sp>
    </p:spTree>
    <p:extLst>
      <p:ext uri="{BB962C8B-B14F-4D97-AF65-F5344CB8AC3E}">
        <p14:creationId xmlns:p14="http://schemas.microsoft.com/office/powerpoint/2010/main" val="1327916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4B1C22-E30D-4A69-8EFC-6769DC5BDA08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440</TotalTime>
  <Words>635</Words>
  <Application>Microsoft Office PowerPoint</Application>
  <PresentationFormat>On-screen Show (16:9)</PresentationFormat>
  <Paragraphs>148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Inter</vt:lpstr>
      <vt:lpstr>Playfair Display</vt:lpstr>
      <vt:lpstr>Times New Roman</vt:lpstr>
      <vt:lpstr>Office Theme</vt:lpstr>
      <vt:lpstr>PowerPoint Presentation</vt:lpstr>
      <vt:lpstr>Research Question</vt:lpstr>
      <vt:lpstr>PowerPoint Presentation</vt:lpstr>
      <vt:lpstr>PowerPoint Presentation</vt:lpstr>
      <vt:lpstr>PowerPoint Presentation</vt:lpstr>
      <vt:lpstr>Hosmer-Lemeshow Goodness-of-Fit Test</vt:lpstr>
      <vt:lpstr>Somer’s D </vt:lpstr>
      <vt:lpstr>Confusion Matrix</vt:lpstr>
      <vt:lpstr>ROC and AUC</vt:lpstr>
      <vt:lpstr>PowerPoint Presentation</vt:lpstr>
      <vt:lpstr>RS2: Overdispersion Test </vt:lpstr>
      <vt:lpstr>Quasi Poisson</vt:lpstr>
      <vt:lpstr>Multicollinearity</vt:lpstr>
      <vt:lpstr>Residual plot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slide with black outer, white words, red for important. I want it to be elegant style. I also put some image into it too so also leave space for lecture thats importabt</dc:title>
  <dc:subject>PptxGenJS Presentation</dc:subject>
  <dc:creator>Sơn Nguyễn</dc:creator>
  <cp:lastModifiedBy>Son Nguyen</cp:lastModifiedBy>
  <cp:revision>13</cp:revision>
  <dcterms:created xsi:type="dcterms:W3CDTF">2026-02-24T23:27:30Z</dcterms:created>
  <dcterms:modified xsi:type="dcterms:W3CDTF">2026-04-14T02:11:08Z</dcterms:modified>
</cp:coreProperties>
</file>